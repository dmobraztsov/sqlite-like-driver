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100000"/>
      </a:lnSpc>
      <a:spcBef>
        <a:spcPts val="16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100000"/>
      </a:lnSpc>
      <a:spcBef>
        <a:spcPts val="16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100000"/>
      </a:lnSpc>
      <a:spcBef>
        <a:spcPts val="16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100000"/>
      </a:lnSpc>
      <a:spcBef>
        <a:spcPts val="16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100000"/>
      </a:lnSpc>
      <a:spcBef>
        <a:spcPts val="16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100000"/>
      </a:lnSpc>
      <a:spcBef>
        <a:spcPts val="16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100000"/>
      </a:lnSpc>
      <a:spcBef>
        <a:spcPts val="16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100000"/>
      </a:lnSpc>
      <a:spcBef>
        <a:spcPts val="16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100000"/>
      </a:lnSpc>
      <a:spcBef>
        <a:spcPts val="16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и лаймы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Автор и дата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арелка с рублеными котлетами из лосося, салатом и хумусом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1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Тарелка пасты папарделле с зелёным маслом из петрушки, жареным фундуком и стружкой сыра пармезан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7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Заголовок повестки дня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09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110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Уровень текста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Авторство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Авторство</a:t>
            </a:r>
          </a:p>
        </p:txBody>
      </p:sp>
      <p:sp>
        <p:nvSpPr>
          <p:cNvPr id="136" name="Уровень текста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lnSpc>
                <a:spcPct val="90000"/>
              </a:lnSpc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lnSpc>
                <a:spcPct val="90000"/>
              </a:lnSpc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lnSpc>
                <a:spcPct val="90000"/>
              </a:lnSpc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lnSpc>
                <a:spcPct val="90000"/>
              </a:lnSpc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lnSpc>
                <a:spcPct val="90000"/>
              </a:lnSpc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Миска салата с жареным рисом, варёными яйцами и палочками для еды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Тарелка с рублеными котлетами из лосося, салатом и хумусом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Тарелка пасты папарделле с зелёным маслом из петрушки, жареным фундуком и стружкой сыра пармезан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миска салата с жареным рисом, варёными яйцами и палочками для еды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100000"/>
        </a:lnSpc>
        <a:spcBef>
          <a:spcPts val="16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100000"/>
        </a:lnSpc>
        <a:spcBef>
          <a:spcPts val="16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100000"/>
        </a:lnSpc>
        <a:spcBef>
          <a:spcPts val="16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100000"/>
        </a:lnSpc>
        <a:spcBef>
          <a:spcPts val="16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100000"/>
        </a:lnSpc>
        <a:spcBef>
          <a:spcPts val="16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100000"/>
        </a:lnSpc>
        <a:spcBef>
          <a:spcPts val="16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100000"/>
        </a:lnSpc>
        <a:spcBef>
          <a:spcPts val="16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100000"/>
        </a:lnSpc>
        <a:spcBef>
          <a:spcPts val="16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100000"/>
        </a:lnSpc>
        <a:spcBef>
          <a:spcPts val="16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Relationship Id="rId3" Type="http://schemas.openxmlformats.org/officeDocument/2006/relationships/image" Target="../media/image2.tif"/><Relationship Id="rId4" Type="http://schemas.openxmlformats.org/officeDocument/2006/relationships/image" Target="../media/image3.tif"/><Relationship Id="rId5" Type="http://schemas.openxmlformats.org/officeDocument/2006/relationships/image" Target="../media/image4.tif"/><Relationship Id="rId6" Type="http://schemas.openxmlformats.org/officeDocument/2006/relationships/image" Target="../media/image1.jpe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Прямоугольник"/>
          <p:cNvSpPr/>
          <p:nvPr/>
        </p:nvSpPr>
        <p:spPr>
          <a:xfrm>
            <a:off x="-47274" y="8710052"/>
            <a:ext cx="6345373" cy="3356718"/>
          </a:xfrm>
          <a:prstGeom prst="rect">
            <a:avLst/>
          </a:prstGeom>
          <a:solidFill>
            <a:srgbClr val="7CC9E7">
              <a:alpha val="5587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2" name="Романенко Никита Образцов Дмитрий Сидоренко Софья Мункуев Владислав"/>
          <p:cNvSpPr txBox="1"/>
          <p:nvPr>
            <p:ph type="body" idx="21"/>
          </p:nvPr>
        </p:nvSpPr>
        <p:spPr>
          <a:xfrm>
            <a:off x="158681" y="9182125"/>
            <a:ext cx="10837490" cy="241257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Романенко Никита</a:t>
            </a:r>
            <a:br/>
            <a:r>
              <a:t>Образцов Дмитрий</a:t>
            </a:r>
            <a:br/>
            <a:r>
              <a:t>Сидоренко Софья</a:t>
            </a:r>
            <a:br/>
            <a:r>
              <a:t>Мункуев Владислав</a:t>
            </a:r>
          </a:p>
        </p:txBody>
      </p:sp>
      <p:sp>
        <p:nvSpPr>
          <p:cNvPr id="173" name="SQLite-like DB"/>
          <p:cNvSpPr txBox="1"/>
          <p:nvPr>
            <p:ph type="ctrTitle"/>
          </p:nvPr>
        </p:nvSpPr>
        <p:spPr>
          <a:xfrm>
            <a:off x="1633039" y="2574991"/>
            <a:ext cx="21971004" cy="4648201"/>
          </a:xfrm>
          <a:prstGeom prst="rect">
            <a:avLst/>
          </a:prstGeom>
        </p:spPr>
        <p:txBody>
          <a:bodyPr/>
          <a:lstStyle/>
          <a:p>
            <a:pPr/>
            <a:r>
              <a:t>SQLite-like DB</a:t>
            </a:r>
          </a:p>
        </p:txBody>
      </p:sp>
      <p:sp>
        <p:nvSpPr>
          <p:cNvPr id="174" name="Подзаголовок презентации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5" name="Прямоугольник"/>
          <p:cNvSpPr/>
          <p:nvPr/>
        </p:nvSpPr>
        <p:spPr>
          <a:xfrm>
            <a:off x="16992082" y="11915477"/>
            <a:ext cx="4942263" cy="2412572"/>
          </a:xfrm>
          <a:prstGeom prst="rect">
            <a:avLst/>
          </a:prstGeom>
          <a:solidFill>
            <a:srgbClr val="7CC9E7">
              <a:alpha val="55875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6" name="НГУ, ФИТ 2025"/>
          <p:cNvSpPr txBox="1"/>
          <p:nvPr/>
        </p:nvSpPr>
        <p:spPr>
          <a:xfrm>
            <a:off x="17240153" y="12046227"/>
            <a:ext cx="444611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НГУ, ФИТ 2025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Зачем мы это делаем?"/>
          <p:cNvSpPr txBox="1"/>
          <p:nvPr>
            <p:ph type="title"/>
          </p:nvPr>
        </p:nvSpPr>
        <p:spPr>
          <a:xfrm>
            <a:off x="1206500" y="605214"/>
            <a:ext cx="21971001" cy="1433164"/>
          </a:xfrm>
          <a:prstGeom prst="rect">
            <a:avLst/>
          </a:prstGeom>
        </p:spPr>
        <p:txBody>
          <a:bodyPr/>
          <a:lstStyle/>
          <a:p>
            <a:pPr/>
            <a:r>
              <a:t>Зачем мы это делаем?</a:t>
            </a:r>
          </a:p>
        </p:txBody>
      </p:sp>
      <p:sp>
        <p:nvSpPr>
          <p:cNvPr id="179" name="Локально хранить структурированные данные…"/>
          <p:cNvSpPr txBox="1"/>
          <p:nvPr>
            <p:ph type="body" idx="1"/>
          </p:nvPr>
        </p:nvSpPr>
        <p:spPr>
          <a:xfrm>
            <a:off x="1206500" y="4617393"/>
            <a:ext cx="21971000" cy="8256012"/>
          </a:xfrm>
          <a:prstGeom prst="rect">
            <a:avLst/>
          </a:prstGeom>
        </p:spPr>
        <p:txBody>
          <a:bodyPr/>
          <a:lstStyle/>
          <a:p>
            <a:pPr/>
            <a:r>
              <a:t>Локально хранить структурированные данные</a:t>
            </a:r>
          </a:p>
          <a:p>
            <a:pPr/>
            <a:r>
              <a:t>Выполнять SQL-подобные запросы</a:t>
            </a:r>
          </a:p>
          <a:p>
            <a:pPr/>
            <a:r>
              <a:t>Делать простые аналитические выборки</a:t>
            </a:r>
          </a:p>
          <a:p>
            <a:pPr/>
            <a:r>
              <a:t>Не поднимать сервер</a:t>
            </a:r>
          </a:p>
        </p:txBody>
      </p:sp>
      <p:pic>
        <p:nvPicPr>
          <p:cNvPr id="180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220321" y="-90576"/>
            <a:ext cx="4209375" cy="4209375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Во многих приложениях не требуется полноценная серверная СУБД,но при этом возникает необходимость:"/>
          <p:cNvSpPr txBox="1"/>
          <p:nvPr/>
        </p:nvSpPr>
        <p:spPr>
          <a:xfrm>
            <a:off x="1315929" y="2586874"/>
            <a:ext cx="17286876" cy="1482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825500">
              <a:spcBef>
                <a:spcPts val="0"/>
              </a:spcBef>
              <a:defRPr b="1" sz="4500"/>
            </a:lvl1pPr>
          </a:lstStyle>
          <a:p>
            <a:pPr/>
            <a:r>
              <a:t>Во многих приложениях не требуется полноценная серверная СУБД,но при этом возникает необходимость: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Наши плюсы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Наши плюсы</a:t>
            </a:r>
          </a:p>
        </p:txBody>
      </p:sp>
      <p:sp>
        <p:nvSpPr>
          <p:cNvPr id="184" name="Данные хранятся напрямую в файловой системе пользователя, соответственно это снижает расходы на запросы и упрощает использование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Данные</a:t>
            </a:r>
            <a:r>
              <a:rPr b="1"/>
              <a:t> хранятся напрямую в файловой системе</a:t>
            </a:r>
            <a:r>
              <a:t> пользователя, соответственно это снижает расходы на запросы и упрощает использование.</a:t>
            </a:r>
          </a:p>
          <a:p>
            <a:pPr/>
            <a:r>
              <a:t>Из-за </a:t>
            </a:r>
            <a:r>
              <a:rPr b="1"/>
              <a:t>колоночного хранения</a:t>
            </a:r>
            <a:r>
              <a:t> в каких-то случаях ускоряется выборка данных. К примеру если таблица широкая(много колонок). Также при выборке столбцов будут считываться только отдельные файлы, что оптимизирует расход памяти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Наши цел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Наши цели </a:t>
            </a:r>
          </a:p>
        </p:txBody>
      </p:sp>
      <p:sp>
        <p:nvSpPr>
          <p:cNvPr id="187" name="Создать свою SQLite-like БД которая поддерживает:"/>
          <p:cNvSpPr txBox="1"/>
          <p:nvPr>
            <p:ph type="body" idx="21"/>
          </p:nvPr>
        </p:nvSpPr>
        <p:spPr>
          <a:xfrm>
            <a:off x="1206500" y="2913194"/>
            <a:ext cx="21971000" cy="934779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Создать свою SQLite-like БД которая поддерживает:</a:t>
            </a:r>
          </a:p>
        </p:txBody>
      </p:sp>
      <p:sp>
        <p:nvSpPr>
          <p:cNvPr id="188" name="Колоночное представление данных…"/>
          <p:cNvSpPr txBox="1"/>
          <p:nvPr>
            <p:ph type="body" sz="half" idx="1"/>
          </p:nvPr>
        </p:nvSpPr>
        <p:spPr>
          <a:xfrm>
            <a:off x="1206500" y="3964143"/>
            <a:ext cx="21971000" cy="4879867"/>
          </a:xfrm>
          <a:prstGeom prst="rect">
            <a:avLst/>
          </a:prstGeom>
        </p:spPr>
        <p:txBody>
          <a:bodyPr/>
          <a:lstStyle/>
          <a:p>
            <a:pPr/>
            <a:r>
              <a:t>Колоночное представление данных</a:t>
            </a:r>
          </a:p>
          <a:p>
            <a:pPr/>
            <a:r>
              <a:t>Простое журналирование </a:t>
            </a:r>
          </a:p>
          <a:p>
            <a:pPr/>
            <a:r>
              <a:t>Минимальный набор запросов </a:t>
            </a:r>
          </a:p>
          <a:p>
            <a:pPr/>
            <a:r>
              <a:t>Простую индексацию</a:t>
            </a:r>
          </a:p>
          <a:p>
            <a:pPr/>
            <a:r>
              <a:t>Бинарное хранение данных</a:t>
            </a:r>
          </a:p>
        </p:txBody>
      </p:sp>
      <p:sp>
        <p:nvSpPr>
          <p:cNvPr id="189" name="Разработать драйвер JDBC для нашей БД"/>
          <p:cNvSpPr txBox="1"/>
          <p:nvPr/>
        </p:nvSpPr>
        <p:spPr>
          <a:xfrm>
            <a:off x="1206500" y="9528902"/>
            <a:ext cx="21971000" cy="934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spcBef>
                <a:spcPts val="0"/>
              </a:spcBef>
              <a:defRPr b="1" sz="5500"/>
            </a:lvl1pPr>
          </a:lstStyle>
          <a:p>
            <a:pPr/>
            <a:r>
              <a:t>Разработать драйвер JDBC для нашей БД</a:t>
            </a:r>
          </a:p>
        </p:txBody>
      </p:sp>
      <p:sp>
        <p:nvSpPr>
          <p:cNvPr id="190" name="Разработать не сетевой драйвер для подключения к нашей БД из java-программ"/>
          <p:cNvSpPr txBox="1"/>
          <p:nvPr/>
        </p:nvSpPr>
        <p:spPr>
          <a:xfrm>
            <a:off x="1206500" y="10579851"/>
            <a:ext cx="21971000" cy="1694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marL="609600" indent="-609600">
              <a:buSzPct val="123000"/>
              <a:buChar char="•"/>
            </a:lvl1pPr>
          </a:lstStyle>
          <a:p>
            <a:pPr/>
            <a:r>
              <a:t>Разработать не сетевой драйвер для подключения к нашей БД из java-программ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Системные требовани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Системные требования</a:t>
            </a:r>
          </a:p>
        </p:txBody>
      </p:sp>
      <p:sp>
        <p:nvSpPr>
          <p:cNvPr id="193" name="ОС: macOS ver. 13+ Ubuntu ver. 24.04+ Windows 10+"/>
          <p:cNvSpPr txBox="1"/>
          <p:nvPr/>
        </p:nvSpPr>
        <p:spPr>
          <a:xfrm>
            <a:off x="1402136" y="4247835"/>
            <a:ext cx="5303216" cy="29928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b="1"/>
              <a:t>ОС:</a:t>
            </a:r>
            <a:br/>
            <a:r>
              <a:t>macOS ver. 13+</a:t>
            </a:r>
            <a:br/>
            <a:r>
              <a:t>Ubuntu ver. 24.04+</a:t>
            </a:r>
            <a:br/>
            <a:r>
              <a:t>Windows 10+</a:t>
            </a:r>
          </a:p>
        </p:txBody>
      </p:sp>
      <p:sp>
        <p:nvSpPr>
          <p:cNvPr id="194" name="Java: Java ver. 17+"/>
          <p:cNvSpPr txBox="1"/>
          <p:nvPr/>
        </p:nvSpPr>
        <p:spPr>
          <a:xfrm>
            <a:off x="8282722" y="4166044"/>
            <a:ext cx="3721304" cy="1545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b="1"/>
              <a:t>Java:</a:t>
            </a:r>
            <a:br/>
            <a:r>
              <a:t>Java ver. 17+</a:t>
            </a:r>
          </a:p>
        </p:txBody>
      </p:sp>
      <p:pic>
        <p:nvPicPr>
          <p:cNvPr id="195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338956" y="-1961947"/>
            <a:ext cx="6502401" cy="6502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вставленный-фильм.png" descr="вставленный-фильм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8199" y="10535704"/>
            <a:ext cx="3293892" cy="3293893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TUI: Работает в текстовом режиме"/>
          <p:cNvSpPr txBox="1"/>
          <p:nvPr/>
        </p:nvSpPr>
        <p:spPr>
          <a:xfrm>
            <a:off x="14310839" y="4166044"/>
            <a:ext cx="8838896" cy="1545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rPr b="1"/>
              <a:t>TUI:</a:t>
            </a:r>
            <a:br/>
            <a:r>
              <a:t>Работает в текстовом режиме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Что готово на данный момент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Что готово на данный момент?</a:t>
            </a:r>
          </a:p>
        </p:txBody>
      </p:sp>
      <p:sp>
        <p:nvSpPr>
          <p:cNvPr id="200" name="MVP БД обрабатывающая минимальный набор запросов:"/>
          <p:cNvSpPr txBox="1"/>
          <p:nvPr>
            <p:ph type="body" idx="21"/>
          </p:nvPr>
        </p:nvSpPr>
        <p:spPr>
          <a:xfrm>
            <a:off x="1206500" y="3079810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MVP БД обрабатывающая минимальный набор запросов:</a:t>
            </a:r>
          </a:p>
        </p:txBody>
      </p:sp>
      <p:sp>
        <p:nvSpPr>
          <p:cNvPr id="201" name="DDL запросы: CREATE, DROP, ALTER, USE"/>
          <p:cNvSpPr txBox="1"/>
          <p:nvPr/>
        </p:nvSpPr>
        <p:spPr>
          <a:xfrm>
            <a:off x="2373704" y="4575694"/>
            <a:ext cx="21971003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rPr b="1"/>
              <a:t>DDL</a:t>
            </a:r>
            <a:r>
              <a:t> запросы: CREATE, DROP, ALTER, USE</a:t>
            </a:r>
          </a:p>
        </p:txBody>
      </p:sp>
      <p:sp>
        <p:nvSpPr>
          <p:cNvPr id="202" name="DML запросы: SELECT, INSERT"/>
          <p:cNvSpPr txBox="1"/>
          <p:nvPr/>
        </p:nvSpPr>
        <p:spPr>
          <a:xfrm>
            <a:off x="2373704" y="5951273"/>
            <a:ext cx="21971003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/>
            <a:r>
              <a:rPr b="1"/>
              <a:t>DML</a:t>
            </a:r>
            <a:r>
              <a:t> запросы: SELECT, INSERT</a:t>
            </a:r>
          </a:p>
        </p:txBody>
      </p:sp>
      <p:sp>
        <p:nvSpPr>
          <p:cNvPr id="203" name="Хранение данных организовано в формате JSON"/>
          <p:cNvSpPr txBox="1"/>
          <p:nvPr/>
        </p:nvSpPr>
        <p:spPr>
          <a:xfrm>
            <a:off x="1206500" y="7909120"/>
            <a:ext cx="21971000" cy="934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defTabSz="825500">
              <a:spcBef>
                <a:spcPts val="0"/>
              </a:spcBef>
              <a:defRPr b="1" sz="5500"/>
            </a:lvl1pPr>
          </a:lstStyle>
          <a:p>
            <a:pPr/>
            <a:r>
              <a:t>Хранение данных организовано в формате JSON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Как происходит Парсинг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Как происходит Парсинг?</a:t>
            </a:r>
          </a:p>
        </p:txBody>
      </p:sp>
      <p:sp>
        <p:nvSpPr>
          <p:cNvPr id="206" name="Парсинг осуществляется с помощью ANTLR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Парсинг осуществляется с помощью ANTLR</a:t>
            </a:r>
          </a:p>
        </p:txBody>
      </p:sp>
      <p:sp>
        <p:nvSpPr>
          <p:cNvPr id="207" name="Лексер разбивает строку на токены(SELECT, CREATE, INTEGER, «строка», специальные символы и тд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Лексер разбивает строку на токены(SELECT, CREATE, INTEGER, «строка», специальные символы и тд.</a:t>
            </a:r>
          </a:p>
          <a:p>
            <a:pPr/>
            <a:r>
              <a:t>Парсер по правилам строит Parse tree с контекстами(к примеру SelectDataStatementContext)</a:t>
            </a:r>
          </a:p>
          <a:p>
            <a:pPr/>
            <a:r>
              <a:t>Дальше по дереву проходится обработчик(visitor) и вытаскивает из контекстов параметры запроса(имя таблицы, выбранные колонки и тд.)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Обработка запрос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Обработка запроса</a:t>
            </a:r>
          </a:p>
        </p:txBody>
      </p:sp>
      <p:sp>
        <p:nvSpPr>
          <p:cNvPr id="210" name="За обработку отвечает класс FileManager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За обработку отвечает класс FileManager </a:t>
            </a:r>
          </a:p>
        </p:txBody>
      </p:sp>
      <p:sp>
        <p:nvSpPr>
          <p:cNvPr id="211" name="Каждая команда проходит через общий слой доступа к файловому хранилищу(FileManager)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Каждая команда проходит через общий слой доступа к файловому хранилищу(FileManager).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Хранение данных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Хранение данных</a:t>
            </a:r>
          </a:p>
        </p:txBody>
      </p:sp>
      <p:sp>
        <p:nvSpPr>
          <p:cNvPr id="214" name="Каждая база лежит в отдельной папке/директории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Каждая база лежит в отдельной папке/директории. </a:t>
            </a:r>
          </a:p>
          <a:p>
            <a:pPr/>
            <a:r>
              <a:t>Каждая таблица имеет свои метаданные(список колонок, типы и тд.).</a:t>
            </a:r>
          </a:p>
          <a:p>
            <a:pPr/>
            <a:r>
              <a:t>Данные каждого столбца лежат в отдельном файле, т.е. у нас </a:t>
            </a:r>
            <a:r>
              <a:rPr b="1"/>
              <a:t>колоночное хранение. </a:t>
            </a:r>
            <a:r>
              <a:t>Пока формат файлов JSON, в дальнейшем бинарный.</a:t>
            </a:r>
          </a:p>
          <a:p>
            <a:pPr/>
            <a:r>
              <a:t>Колоночное хранение упрощает выбор(SELECT) отдельных столбцов.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Анализ рисков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Анализ рисков</a:t>
            </a:r>
          </a:p>
        </p:txBody>
      </p:sp>
      <p:sp>
        <p:nvSpPr>
          <p:cNvPr id="217" name="Мы уже столкнулись с некоторыми из них: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Мы уже столкнулись с некоторыми из них:</a:t>
            </a:r>
          </a:p>
        </p:txBody>
      </p:sp>
      <p:graphicFrame>
        <p:nvGraphicFramePr>
          <p:cNvPr id="218" name="Tаблица 1"/>
          <p:cNvGraphicFramePr/>
          <p:nvPr/>
        </p:nvGraphicFramePr>
        <p:xfrm>
          <a:off x="2310437" y="4083633"/>
          <a:ext cx="10985501" cy="825601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0161574"/>
                <a:gridCol w="10158426"/>
              </a:tblGrid>
              <a:tr h="635000">
                <a:tc>
                  <a:txBody>
                    <a:bodyPr/>
                    <a:lstStyle/>
                    <a:p>
                      <a:pPr defTabSz="914400"/>
                      <a:r>
                        <a:rPr b="1" sz="3200"/>
                        <a:t>Риск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b="1" sz="3200"/>
                        <a:t>Реакция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35000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Ошибки в механизме хранения файлов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Юнит тесты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35000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Ошибки в парсинге запросов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Тесты и улучшение парсера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35000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Ограниченность SQL-подмножества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Написание документации в README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270000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Неправильная обработка ошибок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Написание своих классов исключений(Централизованный error handling)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35000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Нехватка масщтабируемости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Модульный дизайн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635000"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Недостаточное покрытие тестами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Написание новых тестов)))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REATE"/>
          <p:cNvSpPr txBox="1"/>
          <p:nvPr>
            <p:ph type="title"/>
          </p:nvPr>
        </p:nvSpPr>
        <p:spPr>
          <a:xfrm>
            <a:off x="1219200" y="1079500"/>
            <a:ext cx="21971000" cy="1433163"/>
          </a:xfrm>
          <a:prstGeom prst="rect">
            <a:avLst/>
          </a:prstGeom>
        </p:spPr>
        <p:txBody>
          <a:bodyPr/>
          <a:lstStyle/>
          <a:p>
            <a:pPr/>
            <a:r>
              <a:t>CREATE</a:t>
            </a:r>
          </a:p>
        </p:txBody>
      </p:sp>
      <p:sp>
        <p:nvSpPr>
          <p:cNvPr id="221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22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97959" y="3547594"/>
            <a:ext cx="19388082" cy="3222297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вставленный-фильм.png" descr="вставленный-фильм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740438" y="7009743"/>
            <a:ext cx="6903124" cy="395993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INSER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INSERT</a:t>
            </a:r>
          </a:p>
        </p:txBody>
      </p:sp>
      <p:sp>
        <p:nvSpPr>
          <p:cNvPr id="226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27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46526" y="3668340"/>
            <a:ext cx="20033008" cy="417197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8" name="вставленный-фильм.png" descr="вставленный-фильм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435770" y="9415050"/>
            <a:ext cx="5417261" cy="3399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вставленный-фильм.png" descr="вставленный-фильм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429750" y="9415050"/>
            <a:ext cx="5267250" cy="1582037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вставленный-фильм.png" descr="вставленный-фильм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262698" y="9489486"/>
            <a:ext cx="6198862" cy="1433164"/>
          </a:xfrm>
          <a:prstGeom prst="rect">
            <a:avLst/>
          </a:prstGeom>
          <a:ln w="12700">
            <a:miter lim="400000"/>
          </a:ln>
        </p:spPr>
      </p:pic>
      <p:sp>
        <p:nvSpPr>
          <p:cNvPr id="231" name="Метадата таблицы"/>
          <p:cNvSpPr txBox="1"/>
          <p:nvPr/>
        </p:nvSpPr>
        <p:spPr>
          <a:xfrm>
            <a:off x="2409277" y="8546173"/>
            <a:ext cx="547024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Метадата таблицы</a:t>
            </a:r>
          </a:p>
        </p:txBody>
      </p:sp>
      <p:sp>
        <p:nvSpPr>
          <p:cNvPr id="232" name="Представление id"/>
          <p:cNvSpPr txBox="1"/>
          <p:nvPr/>
        </p:nvSpPr>
        <p:spPr>
          <a:xfrm>
            <a:off x="9456877" y="8546173"/>
            <a:ext cx="521299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Представление id</a:t>
            </a:r>
          </a:p>
        </p:txBody>
      </p:sp>
      <p:sp>
        <p:nvSpPr>
          <p:cNvPr id="233" name="Представление name"/>
          <p:cNvSpPr txBox="1"/>
          <p:nvPr/>
        </p:nvSpPr>
        <p:spPr>
          <a:xfrm>
            <a:off x="16247225" y="8546173"/>
            <a:ext cx="622980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Представление name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ELEC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SELECT</a:t>
            </a:r>
          </a:p>
        </p:txBody>
      </p:sp>
      <p:sp>
        <p:nvSpPr>
          <p:cNvPr id="236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37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316824" y="4263547"/>
            <a:ext cx="7873712" cy="51889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вставленный-фильм.png" descr="вставленный-фильм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193531" y="4759616"/>
            <a:ext cx="12409145" cy="41967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Тестировани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Тестирование</a:t>
            </a:r>
          </a:p>
        </p:txBody>
      </p:sp>
      <p:sp>
        <p:nvSpPr>
          <p:cNvPr id="241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42" name="Изображение" descr="Изображение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2318" y="3922356"/>
            <a:ext cx="11758586" cy="2559693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Изображение" descr="Изображение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4902" y="10129853"/>
            <a:ext cx="11613418" cy="2559693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Изображение" descr="Изображение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537450" y="7195409"/>
            <a:ext cx="9309101" cy="2362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5" name="Изображение" descr="Изображение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3847332" y="3971729"/>
            <a:ext cx="10211097" cy="2559693"/>
          </a:xfrm>
          <a:prstGeom prst="rect">
            <a:avLst/>
          </a:prstGeom>
          <a:ln w="12700">
            <a:miter lim="400000"/>
          </a:ln>
        </p:spPr>
      </p:pic>
      <p:pic>
        <p:nvPicPr>
          <p:cNvPr id="246" name="telegram-cloud-photo-size-2-5350568814984237126-x.jpg" descr="telegram-cloud-photo-size-2-5350568814984237126-x.jp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3262565" y="10394620"/>
            <a:ext cx="10658330" cy="20301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Демонстрация"/>
          <p:cNvSpPr txBox="1"/>
          <p:nvPr>
            <p:ph type="title"/>
          </p:nvPr>
        </p:nvSpPr>
        <p:spPr>
          <a:xfrm>
            <a:off x="1206500" y="6141418"/>
            <a:ext cx="21971000" cy="143316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Демонстрация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Планы на будущее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Планы на будущее</a:t>
            </a:r>
          </a:p>
        </p:txBody>
      </p:sp>
      <p:sp>
        <p:nvSpPr>
          <p:cNvPr id="251" name="Переход на бинарный формат хранения данных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Переход на бинарный формат хранения данных</a:t>
            </a:r>
          </a:p>
          <a:p>
            <a:pPr/>
            <a:r>
              <a:t>Оптимизация памяти и скорости выполнения запросов</a:t>
            </a:r>
          </a:p>
        </p:txBody>
      </p:sp>
      <p:pic>
        <p:nvPicPr>
          <p:cNvPr id="252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338761" y="7531291"/>
            <a:ext cx="8572501" cy="57150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СПАСИБО ЗА ВНИМАНИЕ"/>
          <p:cNvSpPr txBox="1"/>
          <p:nvPr>
            <p:ph type="title"/>
          </p:nvPr>
        </p:nvSpPr>
        <p:spPr>
          <a:xfrm>
            <a:off x="1206499" y="6375687"/>
            <a:ext cx="21971001" cy="143316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/>
            <a:r>
              <a:t>СПАСИБО ЗА ВНИМАНИЕ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16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16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